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69" r:id="rId20"/>
    <p:sldId id="270" r:id="rId21"/>
    <p:sldId id="271" r:id="rId22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napToGrid="0">
      <p:cViewPr varScale="1">
        <p:scale>
          <a:sx n="75" d="100"/>
          <a:sy n="75" d="100"/>
        </p:scale>
        <p:origin x="113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60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0BEE05-FC33-464C-B1CA-989DBDA0871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9880" y="1754640"/>
            <a:ext cx="11231640" cy="441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9F45BF5-B64F-424F-B1F0-460B7F597064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2800" cy="20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2800" cy="20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5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94E0A5-A3A1-4AB3-AD87-71E4C80043F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5BC754-5D8C-4E24-85DA-753982F69600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60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32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6EE8C18-6869-4352-AD36-5EA801C3CA2F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object 2"/>
          <p:cNvPicPr/>
          <p:nvPr/>
        </p:nvPicPr>
        <p:blipFill>
          <a:blip r:embed="rId2"/>
          <a:stretch/>
        </p:blipFill>
        <p:spPr>
          <a:xfrm>
            <a:off x="2476440" y="380880"/>
            <a:ext cx="7238160" cy="111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76520" y="2093760"/>
            <a:ext cx="10194120" cy="527158"/>
          </a:xfrm>
          <a:prstGeom prst="rect">
            <a:avLst/>
          </a:prstGeom>
          <a:noFill/>
          <a:ln w="0">
            <a:noFill/>
          </a:ln>
        </p:spPr>
        <p:txBody>
          <a:bodyPr lIns="0" tIns="11520" rIns="0" bIns="0" anchor="t">
            <a:spAutoFit/>
          </a:bodyPr>
          <a:lstStyle/>
          <a:p>
            <a:pPr marL="3156480" indent="-3144600" algn="l">
              <a:lnSpc>
                <a:spcPct val="100000"/>
              </a:lnSpc>
              <a:spcBef>
                <a:spcPts val="91"/>
              </a:spcBef>
              <a:buNone/>
              <a:tabLst>
                <a:tab pos="0" algn="l"/>
              </a:tabLst>
            </a:pPr>
            <a:r>
              <a:rPr lang="en-IN" sz="3350" b="1" u="none" strike="noStrike" dirty="0" err="1">
                <a:solidFill>
                  <a:schemeClr val="dk1"/>
                </a:solidFill>
                <a:effectLst/>
                <a:uFillTx/>
                <a:latin typeface="Times New Roman"/>
              </a:rPr>
              <a:t>AgriSphere</a:t>
            </a:r>
            <a:r>
              <a:rPr lang="en-IN" sz="335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 – Intelligent Digital Agriculture Ecosystem</a:t>
            </a:r>
            <a:endParaRPr lang="en-US" sz="33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object 4"/>
          <p:cNvSpPr/>
          <p:nvPr/>
        </p:nvSpPr>
        <p:spPr>
          <a:xfrm>
            <a:off x="4176000" y="3406680"/>
            <a:ext cx="3840480" cy="343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CSA0904-Programming</a:t>
            </a:r>
            <a:r>
              <a:rPr lang="en-US" sz="2150" b="1" u="none" strike="noStrike" spc="23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1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</a:t>
            </a:r>
            <a:r>
              <a:rPr lang="en-US" sz="2150" b="1" u="none" strike="noStrike" spc="17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2150" b="1" u="none" strike="noStrike" spc="-20">
                <a:solidFill>
                  <a:srgbClr val="000000"/>
                </a:solidFill>
                <a:effectLst/>
                <a:uFillTx/>
                <a:latin typeface="Times New Roman"/>
              </a:rPr>
              <a:t>Java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bject 5"/>
          <p:cNvSpPr/>
          <p:nvPr/>
        </p:nvSpPr>
        <p:spPr>
          <a:xfrm>
            <a:off x="326160" y="4915800"/>
            <a:ext cx="3204000" cy="1162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55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516"/>
              </a:spcBef>
            </a:pPr>
            <a:r>
              <a:rPr lang="en-US" sz="27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Supervised</a:t>
            </a:r>
            <a:r>
              <a:rPr lang="en-US" sz="2700" b="1" u="none" strike="noStrike" spc="-45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lang="en-US" sz="2700" b="1" u="none" strike="noStrike" spc="-26">
                <a:solidFill>
                  <a:srgbClr val="FF0000"/>
                </a:solidFill>
                <a:effectLst/>
                <a:uFillTx/>
                <a:latin typeface="Times New Roman"/>
              </a:rPr>
              <a:t>By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Dr.R.Thalapathi</a:t>
            </a:r>
            <a:r>
              <a:rPr lang="en-US" sz="1850" b="1" u="none" strike="noStrike" spc="32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Rajasekaran`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35"/>
              </a:spcBef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SIMATS</a:t>
            </a:r>
            <a:r>
              <a:rPr lang="en-US" sz="1850" b="1" u="none" strike="noStrike" spc="19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Engineering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object 6"/>
          <p:cNvSpPr/>
          <p:nvPr/>
        </p:nvSpPr>
        <p:spPr>
          <a:xfrm>
            <a:off x="7162920" y="4041720"/>
            <a:ext cx="3585600" cy="258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152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799"/>
              </a:spcBef>
            </a:pPr>
            <a:r>
              <a:rPr lang="en-US" sz="185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Presented</a:t>
            </a:r>
            <a:r>
              <a:rPr lang="en-US" sz="1850" b="1" u="none" strike="noStrike" spc="156">
                <a:solidFill>
                  <a:srgbClr val="FF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26">
                <a:solidFill>
                  <a:srgbClr val="FF0000"/>
                </a:solidFill>
                <a:effectLst/>
                <a:uFillTx/>
                <a:latin typeface="Times New Roman"/>
              </a:rPr>
              <a:t>By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29000"/>
              </a:lnSpc>
              <a:spcBef>
                <a:spcPts val="54"/>
              </a:spcBef>
            </a:pP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MOHAN</a:t>
            </a:r>
            <a:r>
              <a:rPr lang="en-US" sz="1850" b="1" u="none" strike="noStrike" spc="111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RAJ</a:t>
            </a:r>
            <a:r>
              <a:rPr lang="en-US" sz="1850" b="1" u="none" strike="noStrike" spc="15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VD(192424151)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MONESH</a:t>
            </a:r>
            <a:r>
              <a:rPr lang="en-US" sz="1850" b="1" u="none" strike="noStrike" spc="190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S(192324027)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DHARSHAN</a:t>
            </a:r>
            <a:r>
              <a:rPr lang="en-US" sz="1850" b="1" u="none" strike="noStrike" spc="289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AN(192525370)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SELVA</a:t>
            </a:r>
            <a:r>
              <a:rPr lang="en-US" sz="1850" b="1" u="none" strike="noStrike" spc="204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PRABHU</a:t>
            </a:r>
            <a:r>
              <a:rPr lang="en-US" sz="1850" b="1" u="none" strike="noStrike" spc="111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AK(192421244) </a:t>
            </a:r>
            <a:r>
              <a:rPr lang="en-US" sz="185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GANESH</a:t>
            </a:r>
            <a:r>
              <a:rPr lang="en-US" sz="1850" b="1" u="none" strike="noStrike" spc="156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r>
              <a:rPr lang="en-US" sz="1850" b="1" u="none" strike="noStrike" spc="-11">
                <a:solidFill>
                  <a:srgbClr val="000000"/>
                </a:solidFill>
                <a:effectLst/>
                <a:uFillTx/>
                <a:latin typeface="Times New Roman"/>
              </a:rPr>
              <a:t>P(192421142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09"/>
              </a:spcBef>
            </a:pP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object 2" descr="object 3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object 3" descr="object 4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212040" rIns="0" bIns="0" anchor="t">
            <a:spAutoFit/>
          </a:bodyPr>
          <a:lstStyle/>
          <a:p>
            <a:pPr marL="135396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275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Introduction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object 5"/>
          <p:cNvSpPr/>
          <p:nvPr/>
        </p:nvSpPr>
        <p:spPr>
          <a:xfrm>
            <a:off x="686160" y="1658160"/>
            <a:ext cx="10519200" cy="458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9944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AgriSphere</a:t>
            </a: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is an intelligent digital agriculture ecosystem that connects farmers, buyers, and service providers on a single platform.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platform enables farmers to create digital profiles and manage their agricultural products efficiently.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Buyers can easily search, compare, and purchase agricultural products from trusted farmers.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AI technology provides personalized recommendations based on user preferences and market trends.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Smart notifications keep users informed about orders, payments, and important agricultural updates.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Analytics dashboards help users monitor business performance and make informed decisions.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The project promotes digital transformation by making agriculture smarter, faster, and more efficient. 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object 2" descr="object 3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object 3" descr="object 4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212040" rIns="0" bIns="0" anchor="t">
            <a:spAutoFit/>
          </a:bodyPr>
          <a:lstStyle/>
          <a:p>
            <a:pPr marL="26496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IN" sz="275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PROBLEM</a:t>
            </a:r>
            <a:r>
              <a:rPr lang="en-IN" sz="2750" b="1" u="none" strike="noStrike" spc="139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IN" sz="275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STATEMENT</a:t>
            </a:r>
            <a:endParaRPr lang="en-US" sz="27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object 5"/>
          <p:cNvSpPr/>
          <p:nvPr/>
        </p:nvSpPr>
        <p:spPr>
          <a:xfrm>
            <a:off x="799920" y="1981080"/>
            <a:ext cx="10405800" cy="38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Farmers often struggle to find genuine buyers and receive fair prices for their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Buyers face difficulty in identifying trusted farmers and quality agricultural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Agricultural services such as equipment rental and consultancy are not available on a single platform.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Traditional farming and selling methods reduce efficiency and increase operational costs.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Farmers have limited access to AI-based recommendations and real-time market insights.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Existing agriculture applications do not provide complete digital solutions for all stakeholders.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 centralized digital ecosystem is required to improve communication, sales, and agricultural productivity.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21492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105"/>
              </a:spcBef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Project</a:t>
            </a:r>
            <a:r>
              <a:rPr lang="en-US" sz="3600" b="1" u="none" strike="noStrike" spc="-26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Scope</a:t>
            </a:r>
            <a:r>
              <a:rPr lang="en-US" sz="3600" b="1" u="none" strike="noStrike" spc="-31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&amp;</a:t>
            </a:r>
            <a:r>
              <a:rPr lang="en-US" sz="36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 Objectives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9" name="object 3" descr="object 3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object 4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object 5"/>
          <p:cNvSpPr/>
          <p:nvPr/>
        </p:nvSpPr>
        <p:spPr>
          <a:xfrm>
            <a:off x="1333440" y="1905120"/>
            <a:ext cx="10695960" cy="385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Developed a centralized platform that connects farmers, buyers, service providers, and administrators.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Allow farmers to manage products, receive orders, and track their sales digitally.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 buyers with a secure marketplace to purchase agricultural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 AI to deliver personalized recommendations and market insights.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Implemented smart notifications for orders, payments, and important updates.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Generated analytics reports to help users monitor performance and business growth.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Built a scalable system that can support future technologies like IoT and weather forecasting.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925440" y="429840"/>
            <a:ext cx="4519080" cy="51876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LITERATURE</a:t>
            </a:r>
            <a:r>
              <a:rPr lang="en-US" sz="3200" b="1" u="none" strike="noStrike" spc="-125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REVIEW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grpSp>
        <p:nvGrpSpPr>
          <p:cNvPr id="43" name="object 3"/>
          <p:cNvGrpSpPr/>
          <p:nvPr/>
        </p:nvGrpSpPr>
        <p:grpSpPr>
          <a:xfrm>
            <a:off x="95400" y="86040"/>
            <a:ext cx="1164960" cy="1113840"/>
            <a:chOff x="95400" y="86040"/>
            <a:chExt cx="1164960" cy="1113840"/>
          </a:xfrm>
        </p:grpSpPr>
        <p:pic>
          <p:nvPicPr>
            <p:cNvPr id="44" name="object 4" descr="object 4"/>
            <p:cNvPicPr/>
            <p:nvPr/>
          </p:nvPicPr>
          <p:blipFill>
            <a:blip r:embed="rId2"/>
            <a:stretch/>
          </p:blipFill>
          <p:spPr>
            <a:xfrm>
              <a:off x="346680" y="86040"/>
              <a:ext cx="913680" cy="1113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5" name="object 5"/>
            <p:cNvSpPr/>
            <p:nvPr/>
          </p:nvSpPr>
          <p:spPr>
            <a:xfrm>
              <a:off x="95400" y="314640"/>
              <a:ext cx="180360" cy="208800"/>
            </a:xfrm>
            <a:custGeom>
              <a:avLst/>
              <a:gdLst>
                <a:gd name="textAreaLeft" fmla="*/ 0 w 180360"/>
                <a:gd name="textAreaRight" fmla="*/ 181080 w 180360"/>
                <a:gd name="textAreaTop" fmla="*/ 0 h 208800"/>
                <a:gd name="textAreaBottom" fmla="*/ 209520 h 208800"/>
              </a:gdLst>
              <a:ahLst/>
              <a:cxnLst/>
              <a:rect l="textAreaLeft" t="textAreaTop" r="textAreaRight" b="textAreaBottom"/>
              <a:pathLst>
                <a:path w="180975" h="209550">
                  <a:moveTo>
                    <a:pt x="180975" y="0"/>
                  </a:moveTo>
                  <a:lnTo>
                    <a:pt x="0" y="0"/>
                  </a:lnTo>
                  <a:lnTo>
                    <a:pt x="0" y="209550"/>
                  </a:lnTo>
                  <a:lnTo>
                    <a:pt x="180975" y="209550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6" name="object 7" descr="object 5"/>
          <p:cNvPicPr/>
          <p:nvPr/>
        </p:nvPicPr>
        <p:blipFill>
          <a:blip r:embed="rId3"/>
          <a:stretch/>
        </p:blipFill>
        <p:spPr>
          <a:xfrm>
            <a:off x="10829880" y="47520"/>
            <a:ext cx="1266120" cy="11138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7" name="object 8"/>
          <p:cNvGraphicFramePr/>
          <p:nvPr/>
        </p:nvGraphicFramePr>
        <p:xfrm>
          <a:off x="441720" y="1303560"/>
          <a:ext cx="11460960" cy="5467320"/>
        </p:xfrm>
        <a:graphic>
          <a:graphicData uri="http://schemas.openxmlformats.org/drawingml/2006/table">
            <a:tbl>
              <a:tblPr/>
              <a:tblGrid>
                <a:gridCol w="99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2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S. No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LITERATURE TITLE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AUTHOR AND YEAR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LIMITATIONS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HOW OUR PROJECT OVERCOMES 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3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Smart Agriculture Monitoring Using IoT and Cloud Computing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Patel &amp; Singh, 2022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Focuses only on farm monitoring and sensor data without providing an online marketplace.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Integrates smart farming with an AI-powered marketplace connecting farmers, buyers, and service providers.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9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AI-Based Crop Recommendation and Yield Prediction System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Kumar et al., 2023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Provides crop recommendations but does not support product selling or business management.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Combines AI recommendations with product management, buyer discovery, and business analytics.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34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Online Agricultural Marketplace for Farmers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Sharma &amp; Verma, 2021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Supports online product selling but lacks AI recommendations and service provider integration.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Offers AI-based recommendations, service booking, smart notifications, and a complete digital agriculture ecosystem.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9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Digital Farming Platform with Precision Agriculture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Das &amp; Roy, 2024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Concentrates on precision farming techniques without connecting buyers and agricultural services.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Times New Roman"/>
                        </a:rPr>
                        <a:t>Connects farmers, buyers, and service providers while providing analytics, AI insights, and an integrated marketplace.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9360">
                      <a:solidFill>
                        <a:srgbClr val="C4C6C5"/>
                      </a:solidFill>
                      <a:prstDash val="solid"/>
                    </a:lnL>
                    <a:lnR w="9360">
                      <a:solidFill>
                        <a:srgbClr val="C4C6C5"/>
                      </a:solidFill>
                      <a:prstDash val="solid"/>
                    </a:lnR>
                    <a:lnT w="9360">
                      <a:solidFill>
                        <a:srgbClr val="C4C6C5"/>
                      </a:solidFill>
                      <a:prstDash val="solid"/>
                    </a:lnT>
                    <a:lnB w="9360">
                      <a:solidFill>
                        <a:srgbClr val="C4C6C5"/>
                      </a:solidFill>
                      <a:prstDash val="solid"/>
                    </a:lnB>
                    <a:solidFill>
                      <a:srgbClr val="375F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object 2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object 3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object 4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0" anchor="t">
            <a:spAutoFit/>
          </a:bodyPr>
          <a:lstStyle/>
          <a:p>
            <a:pPr marL="1053360" indent="0" algn="l">
              <a:lnSpc>
                <a:spcPct val="100000"/>
              </a:lnSpc>
              <a:spcBef>
                <a:spcPts val="125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System</a:t>
            </a:r>
            <a:r>
              <a:rPr lang="en-US" sz="3200" b="1" u="none" strike="noStrike" spc="-74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Architecture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769589C3-F4E9-F13D-A602-E696BCCF7D3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898528" y="1341720"/>
            <a:ext cx="8175103" cy="4956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object 2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object 3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object 4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723960" y="1533600"/>
            <a:ext cx="11163240" cy="530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1 – User &amp; Profile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secure registration, login, and role-based access for farmers, buyers, service providers, and administrators. Users can create and manage their profiles within the platform.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2 – Smart Digital Marketplace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Enables farmers to list agricultural products while buyers can search, compare, and purchase them through an easy-to-use online marketplace.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3 – AI Recommendation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Uses user preferences and browsing history to provide personalized product recommendations, improving product discovery and customer experience.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4 – Order &amp; Service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Handles shopping cart operations, order placement, payment processing, service bookings, and real-time order tracking for users.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Module 5 – Analytics &amp; Administration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administrators with dashboards to monitor users, products, orders, and sales while generating reports and business insights for better decision-making.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1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object 9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object 10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853360" y="457200"/>
            <a:ext cx="583308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6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Module 1 – User &amp; Profile Management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1"/>
          <p:cNvSpPr/>
          <p:nvPr/>
        </p:nvSpPr>
        <p:spPr>
          <a:xfrm>
            <a:off x="685800" y="1828800"/>
            <a:ext cx="1051524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secure registration and login functionality for farmers, buyers, service providers, and administrators, with different access permissions based on the user's role.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Allows farmers and service providers to create and maintain digital profiles containing their relevant details, enabling buyers to identify and connect with trusted users.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Implements role-based access control so that each type of user can access only the features and operations relevant to their responsibilities.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Enables users to manage their account information while maintaining secure authentication and controlled access to marketplace, services, orders, and administrative features.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Creates the basic user-management layer that connects all stakeholders within the centralized AgriSphere AI digital agriculture ecosystem.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DFA04B-B439-06FC-F162-F14B42927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object 1" descr="object 4">
            <a:extLst>
              <a:ext uri="{FF2B5EF4-FFF2-40B4-BE49-F238E27FC236}">
                <a16:creationId xmlns:a16="http://schemas.microsoft.com/office/drawing/2014/main" id="{A647DCCA-DF34-AFE8-3154-71E510522C6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object 9" descr="object 5">
            <a:extLst>
              <a:ext uri="{FF2B5EF4-FFF2-40B4-BE49-F238E27FC236}">
                <a16:creationId xmlns:a16="http://schemas.microsoft.com/office/drawing/2014/main" id="{7995DD9A-E147-C312-E770-62AA0215E63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object 10">
            <a:extLst>
              <a:ext uri="{FF2B5EF4-FFF2-40B4-BE49-F238E27FC236}">
                <a16:creationId xmlns:a16="http://schemas.microsoft.com/office/drawing/2014/main" id="{14DD6788-C6B9-7AFE-FE70-EFEA93ED0A44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>
            <a:extLst>
              <a:ext uri="{FF2B5EF4-FFF2-40B4-BE49-F238E27FC236}">
                <a16:creationId xmlns:a16="http://schemas.microsoft.com/office/drawing/2014/main" id="{2860AF63-A0B5-E69F-E669-000731AC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360" y="457200"/>
            <a:ext cx="583308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2600" b="1" dirty="0">
                <a:latin typeface="Times New Roman"/>
              </a:rPr>
              <a:t>SAMPLE OUTPUT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C068C-A19E-9B10-38D2-950B8B2DE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710" y="1447200"/>
            <a:ext cx="10249184" cy="488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28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11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object 12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object 13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514600" y="42984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2 – Smart Digital Marketplace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723960" y="182880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farmers with a digital marketplace where they can list, manage, and sell agricultural products directly to potential buyers without depending entirely on traditional selling methods.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Allows buyers to browse, search, and compare agricultural products based on the available product information before making purchasing decisions.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Creates a direct connection between farmers and genuine buyers, helping farmers improve product reach while allowing buyers to access products from trusted agricultural sources.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Integrates product discovery and purchasing into a single online platform, reducing the difficulty of finding agricultural products and improving the overall buying and selling process.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Supports the project's objective of creating a centralized marketplace that combines agricultural product management, buyer discovery, and digital sales within the same ecosystem.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1A7480-F550-0913-ACCD-0A57C5F6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object 11" descr="object 4">
            <a:extLst>
              <a:ext uri="{FF2B5EF4-FFF2-40B4-BE49-F238E27FC236}">
                <a16:creationId xmlns:a16="http://schemas.microsoft.com/office/drawing/2014/main" id="{7FC70E9D-55B8-1E2D-3685-4595FE120AA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object 12" descr="object 5">
            <a:extLst>
              <a:ext uri="{FF2B5EF4-FFF2-40B4-BE49-F238E27FC236}">
                <a16:creationId xmlns:a16="http://schemas.microsoft.com/office/drawing/2014/main" id="{E4ED77CA-A619-38CB-EF35-3D5EA681887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object 13">
            <a:extLst>
              <a:ext uri="{FF2B5EF4-FFF2-40B4-BE49-F238E27FC236}">
                <a16:creationId xmlns:a16="http://schemas.microsoft.com/office/drawing/2014/main" id="{14A39D41-2C00-A402-892A-F9F45EE5774F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1">
            <a:extLst>
              <a:ext uri="{FF2B5EF4-FFF2-40B4-BE49-F238E27FC236}">
                <a16:creationId xmlns:a16="http://schemas.microsoft.com/office/drawing/2014/main" id="{06943701-9E79-4A20-5FE0-7CAB2C06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960" y="46152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>
            <a:extLst>
              <a:ext uri="{FF2B5EF4-FFF2-40B4-BE49-F238E27FC236}">
                <a16:creationId xmlns:a16="http://schemas.microsoft.com/office/drawing/2014/main" id="{70F1D956-4222-E0B8-E2DE-D7638E62B4F6}"/>
              </a:ext>
            </a:extLst>
          </p:cNvPr>
          <p:cNvSpPr/>
          <p:nvPr/>
        </p:nvSpPr>
        <p:spPr>
          <a:xfrm>
            <a:off x="723960" y="1828800"/>
            <a:ext cx="10743480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\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5569BC-5B8A-A140-E3EC-866C9A068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379" y="1973607"/>
            <a:ext cx="8766641" cy="417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93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object 20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object 21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object 22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057400" y="457200"/>
            <a:ext cx="77720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3 – AI Recommendation Engine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685800" y="192744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Uses user preferences and browsing behaviour to understand the interests of buyers and generate personalized agricultural product recommendations.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Analyzes user interaction with available products to improve product discovery, helping users find relevant products instead of manually searching through the entire marketplace.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Provides AI-based recommendations that can support users in making better farming and business decisions based on their requirements and available marketplace information.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Integrates AI capabilities with the marketplace so that recommendations are not isolated features but directly contribute to product discovery and customer experience.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Extends the platform beyond a traditional agricultural marketplace by combining AI recommendations, marketplace data, and business insights in one digital ecosystem.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3EE562D-2B54-C72C-A10E-6D7A1344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object 20" descr="object 4">
            <a:extLst>
              <a:ext uri="{FF2B5EF4-FFF2-40B4-BE49-F238E27FC236}">
                <a16:creationId xmlns:a16="http://schemas.microsoft.com/office/drawing/2014/main" id="{00B16692-C7BC-8DD2-7AAB-13B7D7C42A2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object 21" descr="object 5">
            <a:extLst>
              <a:ext uri="{FF2B5EF4-FFF2-40B4-BE49-F238E27FC236}">
                <a16:creationId xmlns:a16="http://schemas.microsoft.com/office/drawing/2014/main" id="{C932BEFA-8974-C7F4-5E9E-FCC71E613E8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object 22">
            <a:extLst>
              <a:ext uri="{FF2B5EF4-FFF2-40B4-BE49-F238E27FC236}">
                <a16:creationId xmlns:a16="http://schemas.microsoft.com/office/drawing/2014/main" id="{CB89C860-D998-683E-FD48-314ADB39C840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1">
            <a:extLst>
              <a:ext uri="{FF2B5EF4-FFF2-40B4-BE49-F238E27FC236}">
                <a16:creationId xmlns:a16="http://schemas.microsoft.com/office/drawing/2014/main" id="{DA7FECD3-CA30-AC66-D56F-7382699E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57200"/>
            <a:ext cx="77720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b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</a:b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305F1-FEC6-A9B6-2697-D9FE2EE81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426" y="1582741"/>
            <a:ext cx="9261987" cy="442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0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object 17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object 18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object 19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86000" y="42984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4 – Order &amp; Service Management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685800" y="192384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Manages the complete transaction flow from adding products to the shopping cart and placing an order to payment processing and order confirmation.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Provides support for agricultural service bookings, allowing users to access services offered by service providers through the same centralized platform.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Maintains order status and provides real-time tracking, helping users monitor the progress of their purchases and reducing uncertainty during delivery.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Integrates payment processing with order management so that transactions, confirmations, and related notifications can be handled as part of the same workflow.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Supports smart notifications for orders, payments, and important transaction updates, improving communication between users and reducing delays in the overall process.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74E30A-5524-0471-4CED-7C69E4AB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object 17" descr="object 4">
            <a:extLst>
              <a:ext uri="{FF2B5EF4-FFF2-40B4-BE49-F238E27FC236}">
                <a16:creationId xmlns:a16="http://schemas.microsoft.com/office/drawing/2014/main" id="{DBD0120F-E7B1-151C-CA7B-00A8C819B7D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object 18" descr="object 5">
            <a:extLst>
              <a:ext uri="{FF2B5EF4-FFF2-40B4-BE49-F238E27FC236}">
                <a16:creationId xmlns:a16="http://schemas.microsoft.com/office/drawing/2014/main" id="{626D7AF5-5680-C8B2-F065-C05627970E5E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object 19">
            <a:extLst>
              <a:ext uri="{FF2B5EF4-FFF2-40B4-BE49-F238E27FC236}">
                <a16:creationId xmlns:a16="http://schemas.microsoft.com/office/drawing/2014/main" id="{FEF2E232-9F48-BF19-F0C5-75FF612A4902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>
            <a:extLst>
              <a:ext uri="{FF2B5EF4-FFF2-40B4-BE49-F238E27FC236}">
                <a16:creationId xmlns:a16="http://schemas.microsoft.com/office/drawing/2014/main" id="{811109D5-1100-8497-AFC3-EFFA7E29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29840"/>
            <a:ext cx="73148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b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</a:b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C9EA11-21C2-D425-0022-652EB9900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145" y="1583844"/>
            <a:ext cx="10063710" cy="484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309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object 14" descr="object 4"/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15" descr="object 5"/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object 16"/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0" y="429840"/>
            <a:ext cx="70862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Module 5 – Analytics &amp; Administration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686160" y="1928160"/>
            <a:ext cx="10743480" cy="42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Provides administrators with centralized dashboards to monitor registered users, agricultural products, orders, transactions, and overall sales activity across the platform.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Generates analytical reports that help administrators understand business performance, sales trends, user activity, and platform operations for better decision-making.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Enables monitoring of the marketplace and its different stakeholders, helping administrators maintain the reliability, security, and efficient operation of the digital ecosystem.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Uses collected platform data to provide business insights and performance analysis, supporting farmers and administrators in understanding growth and transaction patterns.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Provides the management and analytics layer required to make </a:t>
            </a:r>
            <a:r>
              <a:rPr lang="en-IN" sz="2000" b="0" u="none" strike="noStrike" dirty="0" err="1">
                <a:solidFill>
                  <a:srgbClr val="000000"/>
                </a:solidFill>
                <a:effectLst/>
                <a:uFillTx/>
                <a:latin typeface="Times New Roman"/>
              </a:rPr>
              <a:t>AgriSphere</a:t>
            </a:r>
            <a:r>
              <a:rPr lang="en-IN" sz="2000" b="0" u="none" strike="noStrike" dirty="0">
                <a:solidFill>
                  <a:srgbClr val="000000"/>
                </a:solidFill>
                <a:effectLst/>
                <a:uFillTx/>
                <a:latin typeface="Times New Roman"/>
              </a:rPr>
              <a:t> AI a scalable digital agriculture platform rather than only an online product-selling application. 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1AFDFC-7228-9BFB-4DD2-569AB40C8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object 14" descr="object 4">
            <a:extLst>
              <a:ext uri="{FF2B5EF4-FFF2-40B4-BE49-F238E27FC236}">
                <a16:creationId xmlns:a16="http://schemas.microsoft.com/office/drawing/2014/main" id="{185CED61-E948-3866-C651-66E0FF3528F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1800" y="190440"/>
            <a:ext cx="10947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object 15" descr="object 5">
            <a:extLst>
              <a:ext uri="{FF2B5EF4-FFF2-40B4-BE49-F238E27FC236}">
                <a16:creationId xmlns:a16="http://schemas.microsoft.com/office/drawing/2014/main" id="{C1642555-3FBB-EF10-ADCB-5ADBCB12965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515600" y="190440"/>
            <a:ext cx="1513800" cy="125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object 16">
            <a:extLst>
              <a:ext uri="{FF2B5EF4-FFF2-40B4-BE49-F238E27FC236}">
                <a16:creationId xmlns:a16="http://schemas.microsoft.com/office/drawing/2014/main" id="{F2C84526-6867-3DB0-61E6-8C1BF3D7794E}"/>
              </a:ext>
            </a:extLst>
          </p:cNvPr>
          <p:cNvSpPr/>
          <p:nvPr/>
        </p:nvSpPr>
        <p:spPr>
          <a:xfrm>
            <a:off x="5780160" y="6007320"/>
            <a:ext cx="82440" cy="28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0" u="none" strike="noStrike" spc="-51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>
            <a:extLst>
              <a:ext uri="{FF2B5EF4-FFF2-40B4-BE49-F238E27FC236}">
                <a16:creationId xmlns:a16="http://schemas.microsoft.com/office/drawing/2014/main" id="{55B3AE0A-5BDB-F639-EC49-54F9ED14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0" y="429840"/>
            <a:ext cx="7086240" cy="4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n-IN" sz="32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</a:rPr>
              <a:t>SAMPLE OUTPUT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43D8D-F255-57F5-10EE-B37907ACF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117" y="1676306"/>
            <a:ext cx="9377765" cy="44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97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409680" rIns="0" bIns="0" anchor="t">
            <a:spAutoFit/>
          </a:bodyPr>
          <a:lstStyle/>
          <a:p>
            <a:pPr marL="105552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Result and Outcome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4" name="object 3" descr="object 5"/>
          <p:cNvPicPr/>
          <p:nvPr/>
        </p:nvPicPr>
        <p:blipFill>
          <a:blip r:embed="rId2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object 4" descr="object 4"/>
          <p:cNvPicPr/>
          <p:nvPr/>
        </p:nvPicPr>
        <p:blipFill>
          <a:blip r:embed="rId3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object 5"/>
          <p:cNvSpPr/>
          <p:nvPr/>
        </p:nvSpPr>
        <p:spPr>
          <a:xfrm>
            <a:off x="914400" y="1846080"/>
            <a:ext cx="10286640" cy="439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920" rIns="0" bIns="0" anchor="ctr">
            <a:spAutoFit/>
          </a:bodyPr>
          <a:lstStyle/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Farmers can directly connect with buyers through the digital marketplace, providing better access to customers and supporting increased income through digital product sales.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Buyers can search, compare, and purchase agricultural products from trusted farmers through a centralized platform, making the overall buying process easier and more efficient.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Service providers can offer services through the same platform, creating a common digital ecosystem where users can access agricultural products as well as related services.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AI recommendation engine provides personalized product recommendations based on user preferences and interactions, helping users discover relevant products and make better farming and business decisions.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project brings farmers, buyers, service providers, and administrators together on a single platform, promoting a smarter, more efficient, and technology-driven agricultural ecosystem.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86000" y="429840"/>
            <a:ext cx="7315200" cy="1385640"/>
          </a:xfrm>
          <a:prstGeom prst="rect">
            <a:avLst/>
          </a:prstGeom>
          <a:noFill/>
          <a:ln w="0">
            <a:noFill/>
          </a:ln>
        </p:spPr>
        <p:txBody>
          <a:bodyPr lIns="0" tIns="409680" rIns="0" bIns="0" anchor="t">
            <a:spAutoFit/>
          </a:bodyPr>
          <a:lstStyle/>
          <a:p>
            <a:pPr marL="105552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Future Scope and recommendations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88" name="object 24" descr="object 5"/>
          <p:cNvPicPr/>
          <p:nvPr/>
        </p:nvPicPr>
        <p:blipFill>
          <a:blip r:embed="rId2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object 25" descr="object 4"/>
          <p:cNvPicPr/>
          <p:nvPr/>
        </p:nvPicPr>
        <p:blipFill>
          <a:blip r:embed="rId3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object 26"/>
          <p:cNvSpPr/>
          <p:nvPr/>
        </p:nvSpPr>
        <p:spPr>
          <a:xfrm>
            <a:off x="457200" y="1600920"/>
            <a:ext cx="11201400" cy="439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920" rIns="0" bIns="0" anchor="ctr">
            <a:spAutoFit/>
          </a:bodyPr>
          <a:lstStyle/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IoT-Based Smart Farming: Integrate IoT sensors to collect real-time data such as soil moisture, temperature, humidity, and crop conditions, enabling smarter farm monitoring.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Advanced AI Recommendations: Enhance the AI system to provide more advanced recommendations for crops, products, farming activities, and market decisions using larger amounts of user and agricultural data.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Real-Time Market Insights: Integrate live agricultural market data to provide farmers with current price trends and demand information, helping them decide when and where to sell their products.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Advanced Predictive Analytics: Extend the analytics module with predictive models for sales, demand, product trends, and business growth to support proactive decision-making.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Mobile Application Development: Extend the platform into dedicated mobile applications so farmers, buyers, and service providers can access marketplace, orders, services, and notifications conveniently from mobile devices.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bject 2"/>
          <p:cNvSpPr/>
          <p:nvPr/>
        </p:nvSpPr>
        <p:spPr>
          <a:xfrm>
            <a:off x="1295280" y="1981080"/>
            <a:ext cx="11268720" cy="385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 anchor="t">
            <a:spAutoFit/>
          </a:bodyPr>
          <a:lstStyle/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AgriSphere AI is a complete digital agriculture ecosystem.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It connects farmers, buyers, and service providers in one platform.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AI improves efficiency through smart recommendations and analytics.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marketplace simplifies agricultural buying and selling.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Multiple user roles make the system flexible and scalable.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The project supports future expansion with advanced AI features.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AgriSphere AI contributes to modern, smart, and sustainable agriculture.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260160" y="429840"/>
            <a:ext cx="5375880" cy="911880"/>
          </a:xfrm>
          <a:prstGeom prst="rect">
            <a:avLst/>
          </a:prstGeom>
          <a:noFill/>
          <a:ln w="0">
            <a:noFill/>
          </a:ln>
        </p:spPr>
        <p:txBody>
          <a:bodyPr lIns="0" tIns="96120" rIns="0" bIns="0" anchor="t">
            <a:spAutoFit/>
          </a:bodyPr>
          <a:lstStyle/>
          <a:p>
            <a:pPr marL="1797120" indent="0" algn="l">
              <a:lnSpc>
                <a:spcPct val="100000"/>
              </a:lnSpc>
              <a:spcBef>
                <a:spcPts val="130"/>
              </a:spcBef>
              <a:buNone/>
              <a:tabLst>
                <a:tab pos="0" algn="l"/>
              </a:tabLst>
            </a:pPr>
            <a:r>
              <a:rPr lang="en-US" sz="3200" b="1" u="none" strike="noStrike" spc="-11">
                <a:solidFill>
                  <a:schemeClr val="dk1"/>
                </a:solidFill>
                <a:effectLst/>
                <a:uFillTx/>
                <a:latin typeface="Times New Roman"/>
              </a:rPr>
              <a:t>Conclusion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3" name="object 4" descr="object 5"/>
          <p:cNvPicPr/>
          <p:nvPr/>
        </p:nvPicPr>
        <p:blipFill>
          <a:blip r:embed="rId2"/>
          <a:stretch/>
        </p:blipFill>
        <p:spPr>
          <a:xfrm>
            <a:off x="10515600" y="190440"/>
            <a:ext cx="1513800" cy="13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object 5" descr="object 4"/>
          <p:cNvPicPr/>
          <p:nvPr/>
        </p:nvPicPr>
        <p:blipFill>
          <a:blip r:embed="rId3"/>
          <a:stretch/>
        </p:blipFill>
        <p:spPr>
          <a:xfrm>
            <a:off x="361800" y="190440"/>
            <a:ext cx="1094760" cy="1342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523320" y="2522520"/>
            <a:ext cx="4348440" cy="1090800"/>
          </a:xfrm>
          <a:prstGeom prst="rect">
            <a:avLst/>
          </a:prstGeom>
          <a:noFill/>
          <a:ln w="0">
            <a:noFill/>
          </a:ln>
        </p:spPr>
        <p:txBody>
          <a:bodyPr lIns="0" tIns="17280" rIns="0" bIns="0" anchor="t">
            <a:spAutoFit/>
          </a:bodyPr>
          <a:lstStyle/>
          <a:p>
            <a:pPr marL="12600" indent="0" algn="l">
              <a:lnSpc>
                <a:spcPct val="100000"/>
              </a:lnSpc>
              <a:spcBef>
                <a:spcPts val="136"/>
              </a:spcBef>
              <a:buNone/>
              <a:tabLst>
                <a:tab pos="0" algn="l"/>
              </a:tabLst>
            </a:pPr>
            <a:r>
              <a:rPr lang="en-US" sz="695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Thank</a:t>
            </a:r>
            <a:r>
              <a:rPr lang="en-US" sz="6950" b="0" u="none" strike="noStrike" spc="79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lang="en-US" sz="6950" b="0" u="none" strike="noStrike" spc="-20">
                <a:solidFill>
                  <a:schemeClr val="dk1"/>
                </a:solidFill>
                <a:effectLst/>
                <a:uFillTx/>
                <a:latin typeface="Times New Roman"/>
              </a:rPr>
              <a:t>You!</a:t>
            </a:r>
            <a:endParaRPr lang="en-US" sz="695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1718</Words>
  <Application>Microsoft Office PowerPoint</Application>
  <PresentationFormat>Widescreen</PresentationFormat>
  <Paragraphs>142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OpenSymbol</vt:lpstr>
      <vt:lpstr>Symbol</vt:lpstr>
      <vt:lpstr>Times New Roman</vt:lpstr>
      <vt:lpstr>Wingdings</vt:lpstr>
      <vt:lpstr>Office Theme</vt:lpstr>
      <vt:lpstr>AgriSphere – Intelligent Digital Agriculture Ecosystem</vt:lpstr>
      <vt:lpstr>Introduction</vt:lpstr>
      <vt:lpstr>PROBLEM STATEMENT</vt:lpstr>
      <vt:lpstr>Project Scope &amp; Objectives</vt:lpstr>
      <vt:lpstr>LITERATURE REVIEW</vt:lpstr>
      <vt:lpstr>System Architecture</vt:lpstr>
      <vt:lpstr>MODULES</vt:lpstr>
      <vt:lpstr> Module 1 – User &amp; Profile Management</vt:lpstr>
      <vt:lpstr>SAMPLE OUTPUT</vt:lpstr>
      <vt:lpstr>Module 2 – Smart Digital Marketplace</vt:lpstr>
      <vt:lpstr>SAMPLE OUTPUT</vt:lpstr>
      <vt:lpstr>Module 3 – AI Recommendation Engine</vt:lpstr>
      <vt:lpstr>Sample Output </vt:lpstr>
      <vt:lpstr>Module 4 – Order &amp; Service Management</vt:lpstr>
      <vt:lpstr>SAMPLE OUTPUT </vt:lpstr>
      <vt:lpstr>Module 5 – Analytics &amp; Administration</vt:lpstr>
      <vt:lpstr>SAMPLE OUTPUT</vt:lpstr>
      <vt:lpstr>Result and Outcome</vt:lpstr>
      <vt:lpstr>Future Scope and recommendations 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K</dc:creator>
  <dc:description/>
  <cp:lastModifiedBy>A K</cp:lastModifiedBy>
  <cp:revision>10</cp:revision>
  <dcterms:created xsi:type="dcterms:W3CDTF">2026-08-05T05:31:35Z</dcterms:created>
  <dcterms:modified xsi:type="dcterms:W3CDTF">2026-08-31T03:08:02Z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2026-08-04T00:00:00Z</vt:filetime>
  </property>
  <property fmtid="{D5CDD505-2E9C-101B-9397-08002B2CF9AE}" pid="4" name="LastSaved">
    <vt:filetime>2026-08-05T00:00:00Z</vt:filetime>
  </property>
  <property fmtid="{D5CDD505-2E9C-101B-9397-08002B2CF9AE}" pid="5" name="PresentationFormat">
    <vt:lpwstr>Widescreen</vt:lpwstr>
  </property>
  <property fmtid="{D5CDD505-2E9C-101B-9397-08002B2CF9AE}" pid="6" name="Slides">
    <vt:i4>11</vt:i4>
  </property>
</Properties>
</file>